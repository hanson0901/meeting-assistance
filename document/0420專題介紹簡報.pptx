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Arial Unicode" charset="1" panose="020B0604020202020204"/>
      <p:regular r:id="rId14"/>
    </p:embeddedFont>
    <p:embeddedFont>
      <p:font typeface="Noto Sans T Chinese" charset="1" panose="020B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https://github.com/Hanson0901/meeting-assistence/tree/testB" TargetMode="External" Type="http://schemas.openxmlformats.org/officeDocument/2006/relationships/hyperlink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8362" y="5854057"/>
            <a:ext cx="4330888" cy="3404243"/>
          </a:xfrm>
          <a:custGeom>
            <a:avLst/>
            <a:gdLst/>
            <a:ahLst/>
            <a:cxnLst/>
            <a:rect r="r" b="b" t="t" l="l"/>
            <a:pathLst>
              <a:path h="3404243" w="4330888">
                <a:moveTo>
                  <a:pt x="0" y="0"/>
                </a:moveTo>
                <a:lnTo>
                  <a:pt x="4330888" y="0"/>
                </a:lnTo>
                <a:lnTo>
                  <a:pt x="4330888" y="3404243"/>
                </a:lnTo>
                <a:lnTo>
                  <a:pt x="0" y="34042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5832" t="0" r="-11909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428750" y="2814687"/>
            <a:ext cx="15430500" cy="1691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894"/>
              </a:lnSpc>
              <a:spcBef>
                <a:spcPct val="0"/>
              </a:spcBef>
            </a:pPr>
            <a:r>
              <a:rPr lang="en-US" sz="9924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大三下期中專題報告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473083" y="5181600"/>
            <a:ext cx="5341833" cy="307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指導教授：吳齊人  教授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成員：B1229040  陳奕蓁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           B1229042  楊程宇</a:t>
            </a:r>
          </a:p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           B1229052  周姵妡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           B1229057  陳泓瑜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9772650"/>
            <a:ext cx="13045139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github repo：</a:t>
            </a:r>
            <a:r>
              <a:rPr lang="en-US" sz="3000" u="sng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  <a:hlinkClick r:id="rId3" tooltip="https://github.com/Hanson0901/meeting-assistence/tree/testB"/>
              </a:rPr>
              <a:t>https://github.com/mikuma0901/meeting-assistence/tree/testB 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75451" y="4546600"/>
            <a:ext cx="7556182" cy="596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00"/>
              </a:lnSpc>
              <a:spcBef>
                <a:spcPct val="0"/>
              </a:spcBef>
            </a:pPr>
            <a:r>
              <a:rPr lang="en-US" sz="35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專題名稱：可離線運作之會議紀要系統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533971" y="986948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1 頁 (共 8 頁)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57150"/>
            <a:ext cx="18288000" cy="541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1.1 規格目的 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408161"/>
            <a:ext cx="17849334" cy="445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目的：紀錄會議過程並整理重點，以藍芽方式傳送給連接設備</a:t>
            </a:r>
          </a:p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設備：麥克風、resberrypi、聲音轉文字的本地模型、整理文字重點的本地模型</a:t>
            </a:r>
          </a:p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軟體規格：</a:t>
            </a:r>
          </a:p>
          <a:p>
            <a:pPr algn="l" marL="1554480" indent="-518160" lvl="2">
              <a:lnSpc>
                <a:spcPts val="5040"/>
              </a:lnSpc>
              <a:buAutoNum type="alphaLcPeriod" startAt="1"/>
            </a:pPr>
            <a:r>
              <a:rPr lang="en-US" sz="36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接收聲音並轉為文字的模組</a:t>
            </a:r>
          </a:p>
          <a:p>
            <a:pPr algn="l" marL="1554480" indent="-518160" lvl="2">
              <a:lnSpc>
                <a:spcPts val="5040"/>
              </a:lnSpc>
              <a:buAutoNum type="alphaLcPeriod" startAt="1"/>
            </a:pPr>
            <a:r>
              <a:rPr lang="en-US" sz="36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接收文字並整理文字重點的模組</a:t>
            </a:r>
          </a:p>
          <a:p>
            <a:pPr algn="l" marL="1554480" indent="-518160" lvl="2">
              <a:lnSpc>
                <a:spcPts val="5040"/>
              </a:lnSpc>
              <a:buAutoNum type="alphaLcPeriod" startAt="1"/>
            </a:pPr>
            <a:r>
              <a:rPr lang="en-US" sz="36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將結果傳到連接裝置的藍芽模組</a:t>
            </a:r>
          </a:p>
          <a:p>
            <a:pPr algn="l" marL="777240" indent="-388620" lvl="1">
              <a:lnSpc>
                <a:spcPts val="5040"/>
              </a:lnSpc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硬體規格：麥克風、存放模型及rasberrypi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5621372"/>
            <a:ext cx="17039967" cy="18879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39" indent="-388620" lvl="1">
              <a:lnSpc>
                <a:spcPts val="5039"/>
              </a:lnSpc>
              <a:spcBef>
                <a:spcPct val="0"/>
              </a:spcBef>
              <a:buAutoNum type="arabicPeriod" startAt="1"/>
            </a:pPr>
            <a:r>
              <a:rPr lang="en-US" sz="35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時間：三十分鐘及以下</a:t>
            </a:r>
          </a:p>
          <a:p>
            <a:pPr algn="l" marL="777239" indent="-388620" lvl="1">
              <a:lnSpc>
                <a:spcPts val="5039"/>
              </a:lnSpc>
              <a:spcBef>
                <a:spcPct val="0"/>
              </a:spcBef>
              <a:buAutoNum type="arabicPeriod" startAt="1"/>
            </a:pPr>
            <a:r>
              <a:rPr lang="en-US" sz="35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人數：五人以下，不超過兩個聲音同時說話</a:t>
            </a:r>
          </a:p>
          <a:p>
            <a:pPr algn="l" marL="777239" indent="-388620" lvl="1">
              <a:lnSpc>
                <a:spcPts val="5039"/>
              </a:lnSpc>
              <a:spcBef>
                <a:spcPct val="0"/>
              </a:spcBef>
              <a:buAutoNum type="arabicPeriod" startAt="1"/>
            </a:pPr>
            <a:r>
              <a:rPr lang="en-US" sz="35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限制：建議每位與會成員在第一次發言時先表示自己的姓名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5159455"/>
            <a:ext cx="18288000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1.2 </a:t>
            </a: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規格範圍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8270557"/>
            <a:ext cx="16289693" cy="189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自動化產出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結構化重點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，大幅節省人工整理紀錄的勞務成本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建立全離線運算環境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，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確保機密會議資訊達成物理級資安防護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發揮樹莓派體積優勢與整合封裝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，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打造隨處部署的行動紀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錄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器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7808641"/>
            <a:ext cx="18288000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65"/>
              </a:lnSpc>
              <a:spcBef>
                <a:spcPct val="0"/>
              </a:spcBef>
            </a:pPr>
            <a:r>
              <a:rPr lang="en-US" sz="3189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2.1 系統目標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533971" y="9830118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2 頁 (共 8 頁)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57150"/>
            <a:ext cx="16914490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2.2 系統範圍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404767"/>
            <a:ext cx="18288000" cy="253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輸入：現場即時錄音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核心技術：ASR 語音轉文字、SRT 解析、LLM prompt 生成與會者、重點整理、決策、待辦事項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輸出：生成 txt 綜合報告，並透過藍牙進行點對點傳送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3275384"/>
            <a:ext cx="15430500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2.3 系統架構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3737300"/>
            <a:ext cx="18288000" cy="381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硬體驅動與音訊捕獲模組：透過 Subprocess 調度 arecord 與 ffmpeg 直接驅動硬體介面，實現音訊即時採集並封裝為 MKV 格式。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離線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 AI 推論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引擎：整合 llama.cpp 框架與微調後的 Qwen 模型，於本地端完成語義分析與摘要，徹底免除外部 API 依賴。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系統匯流排與狀態管理：結合 D-Bus 與 BlueZ 實現跨裝置藍牙通訊，並透過 JSON 快取機制維護分段處理過程中的數據一致性。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33971" y="994727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3 頁 (共 8 頁)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0" y="330154"/>
          <a:ext cx="8814394" cy="9700921"/>
        </p:xfrm>
        <a:graphic>
          <a:graphicData uri="http://schemas.openxmlformats.org/drawingml/2006/table">
            <a:tbl>
              <a:tblPr/>
              <a:tblGrid>
                <a:gridCol w="2437794"/>
                <a:gridCol w="2728418"/>
                <a:gridCol w="3648182"/>
              </a:tblGrid>
              <a:tr h="9686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需求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用處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備註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86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Raspberry Pi 5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主運算平台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16GB RAM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44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USB 麥克風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音訊輸入裝置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目前使用</a:t>
                      </a: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logitech視訊攝像頭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86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藍牙模組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結果傳輸介面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內建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01321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FunASR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語音辨識套件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含 Paraformer-zh、FSMN-VAD、CT-Punc、CAM++ 模型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14445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llama.cpp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本地 LLM 推論框架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86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Qwen3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主要語言模型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4B-Instruct-Q8_0.gguf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68629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OpenCC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繁簡中文轉換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27568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Python 3.10+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程式運行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300"/>
                        </a:lnSpc>
                        <a:defRPr/>
                      </a:pPr>
                      <a:r>
                        <a:rPr lang="en-US" sz="2300">
                          <a:solidFill>
                            <a:srgbClr val="000000"/>
                          </a:solidFill>
                          <a:latin typeface="Arial Unicode"/>
                          <a:ea typeface="Arial Unicode"/>
                          <a:cs typeface="Arial Unicode"/>
                          <a:sym typeface="Arial Unicode"/>
                        </a:rPr>
                        <a:t>Conda 虛擬環境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0" y="-57150"/>
            <a:ext cx="5243140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2.4 軟/硬體建構項目需求概述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0" y="-57150"/>
            <a:ext cx="2813075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2.5 軟/硬體環境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423817"/>
            <a:ext cx="8716951" cy="9396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sz="27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作業系統：Raspberry Pi OS（64-bit，Debian Bookworm）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sz="27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執行環境</a:t>
            </a:r>
          </a:p>
          <a:p>
            <a:pPr algn="l" marL="1209039" indent="-403013" lvl="2">
              <a:lnSpc>
                <a:spcPts val="3919"/>
              </a:lnSpc>
              <a:spcBef>
                <a:spcPct val="0"/>
              </a:spcBef>
              <a:buAutoNum type="alphaLcPeriod" startAt="1"/>
            </a:pPr>
            <a:r>
              <a:rPr lang="en-US" sz="27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asr_env：FunASR / 語音辨識 Conda 環境</a:t>
            </a:r>
          </a:p>
          <a:p>
            <a:pPr algn="l" marL="1209039" indent="-403013" lvl="2">
              <a:lnSpc>
                <a:spcPts val="3919"/>
              </a:lnSpc>
              <a:spcBef>
                <a:spcPct val="0"/>
              </a:spcBef>
              <a:buAutoNum type="alphaLcPeriod" startAt="1"/>
            </a:pPr>
            <a:r>
              <a:rPr lang="en-US" sz="27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pkd_env：llama.cpp / LLM 推論 Conda 環境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sz="27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模型與資料路徑</a:t>
            </a:r>
          </a:p>
          <a:p>
            <a:pPr algn="l" marL="1209039" indent="-403013" lvl="2">
              <a:lnSpc>
                <a:spcPts val="3919"/>
              </a:lnSpc>
              <a:spcBef>
                <a:spcPct val="0"/>
              </a:spcBef>
              <a:buAutoNum type="alphaLcPeriod" startAt="1"/>
            </a:pPr>
            <a:r>
              <a:rPr lang="en-US" sz="27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模型儲存路徑：/home/cgu-csie/</a:t>
            </a:r>
          </a:p>
          <a:p>
            <a:pPr algn="l" marL="1209039" indent="-403013" lvl="2">
              <a:lnSpc>
                <a:spcPts val="3919"/>
              </a:lnSpc>
              <a:spcBef>
                <a:spcPct val="0"/>
              </a:spcBef>
              <a:buAutoNum type="alphaLcPeriod" startAt="1"/>
            </a:pPr>
            <a:r>
              <a:rPr lang="en-US" sz="27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模型快取：/home/cgu-csie/.cache/modelscope</a:t>
            </a:r>
          </a:p>
          <a:p>
            <a:pPr algn="l" marL="1209039" indent="-403013" lvl="2">
              <a:lnSpc>
                <a:spcPts val="3919"/>
              </a:lnSpc>
              <a:spcBef>
                <a:spcPct val="0"/>
              </a:spcBef>
              <a:buAutoNum type="alphaLcPeriod" startAt="1"/>
            </a:pPr>
            <a:r>
              <a:rPr lang="en-US" sz="27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離線模式：HF_OFFLINE=1、TRANSFORMERS_OFFLINE=1（不依賴外部網路）</a:t>
            </a:r>
          </a:p>
          <a:p>
            <a:pPr algn="l" marL="604519" indent="-302260" lvl="1">
              <a:lnSpc>
                <a:spcPts val="3919"/>
              </a:lnSpc>
              <a:spcBef>
                <a:spcPct val="0"/>
              </a:spcBef>
              <a:buAutoNum type="arabicPeriod" startAt="1"/>
            </a:pPr>
            <a:r>
              <a:rPr lang="en-US" sz="27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系統資源配置</a:t>
            </a:r>
          </a:p>
          <a:p>
            <a:pPr algn="l" marL="1209039" indent="-403013" lvl="2">
              <a:lnSpc>
                <a:spcPts val="3919"/>
              </a:lnSpc>
              <a:spcBef>
                <a:spcPct val="0"/>
              </a:spcBef>
              <a:buAutoNum type="alphaLcPeriod" startAt="1"/>
            </a:pPr>
            <a:r>
              <a:rPr lang="en-US" sz="27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LLM 執行緒數：4（OMP_NUM_THREADS=4）</a:t>
            </a:r>
          </a:p>
          <a:p>
            <a:pPr algn="l" marL="1209039" indent="-403013" lvl="2">
              <a:lnSpc>
                <a:spcPts val="3919"/>
              </a:lnSpc>
              <a:spcBef>
                <a:spcPct val="0"/>
              </a:spcBef>
              <a:buAutoNum type="alphaLcPeriod" startAt="1"/>
            </a:pPr>
            <a:r>
              <a:rPr lang="en-US" sz="27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Context window：2048 tokens（一般）/ 8192 tokens（摘要模式，依 RAM 動態調整）</a:t>
            </a:r>
          </a:p>
          <a:p>
            <a:pPr algn="l" marL="1209039" indent="-403013" lvl="2">
              <a:lnSpc>
                <a:spcPts val="3919"/>
              </a:lnSpc>
              <a:spcBef>
                <a:spcPct val="0"/>
              </a:spcBef>
              <a:buAutoNum type="alphaLcPeriod" startAt="1"/>
            </a:pPr>
            <a:r>
              <a:rPr lang="en-US" sz="27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GPU 加速：n_gpu_layers=0（純 CPU 推論）</a:t>
            </a:r>
          </a:p>
          <a:p>
            <a:pPr algn="l" marL="1209039" indent="-403013" lvl="2">
              <a:lnSpc>
                <a:spcPts val="3919"/>
              </a:lnSpc>
              <a:spcBef>
                <a:spcPct val="0"/>
              </a:spcBef>
              <a:buAutoNum type="alphaLcPeriod" startAt="1"/>
            </a:pPr>
            <a:r>
              <a:rPr lang="en-US" sz="279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記憶體監控閥傀：10 GB（ModelConfig.MEMORY_CONFIG）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33971" y="9842163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4 頁 (共 8 頁)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57150"/>
            <a:ext cx="2295599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2.6 一般限制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404767"/>
            <a:ext cx="18166715" cy="445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時間限制：30 分鐘以下。系統以每 10 分鐘為單位自動切片處理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人員與音訊限制：5 人，同時發言人數不超過 2 人。首次發言自報姓名，以利人物識別</a:t>
            </a:r>
          </a:p>
          <a:p>
            <a:pPr algn="l" marL="1554480" indent="-518160" lvl="2">
              <a:lnSpc>
                <a:spcPts val="5040"/>
              </a:lnSpc>
              <a:spcBef>
                <a:spcPct val="0"/>
              </a:spcBef>
              <a:buAutoNum type="alphaL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說話者識別上限：50 人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模型限制：</a:t>
            </a:r>
          </a:p>
          <a:p>
            <a:pPr algn="l" marL="1554480" indent="-518160" lvl="2">
              <a:lnSpc>
                <a:spcPts val="5040"/>
              </a:lnSpc>
              <a:spcBef>
                <a:spcPct val="0"/>
              </a:spcBef>
              <a:buAutoNum type="alphaL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最大 context window：8192 tokens（16GB RAM 版本）</a:t>
            </a:r>
          </a:p>
          <a:p>
            <a:pPr algn="l" marL="1554480" indent="-518160" lvl="2">
              <a:lnSpc>
                <a:spcPts val="5040"/>
              </a:lnSpc>
              <a:spcBef>
                <a:spcPct val="0"/>
              </a:spcBef>
              <a:buAutoNum type="alphaL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單段逐字稿輸入上限：1500 字元</a:t>
            </a:r>
          </a:p>
          <a:p>
            <a:pPr algn="l" marL="1554480" indent="-518160" lvl="2">
              <a:lnSpc>
                <a:spcPts val="5040"/>
              </a:lnSpc>
              <a:spcBef>
                <a:spcPct val="0"/>
              </a:spcBef>
              <a:buAutoNum type="alphaL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LLM 推論為純 CPU 模式，不支援 GPU 加速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4950675"/>
            <a:ext cx="18288000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3.1 軟/硬體建構項目架構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5563664"/>
            <a:ext cx="18166715" cy="445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音訊擷取層：透過 arecord 與 ffmpeg 進行即時錄音與轉檔（MKV）。RealtimeASR 類別（speech/pipeline_mkv_read.py）負責音訊分段與說話者聲紋識別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AI 推論層：llama.cpp 載入 Qwen 模型，由 extractors/ 下的五個模組（PeopleExtractor、KeypointsExtractor、DecisionsExtractor、ActionsExtractor、SummaryGenerator）依序分析。參數由 config/model_config.py 統一管理。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輸出傳輸層：分析結果彙整為 txt 報告，pkd_worker.py 透過 BlueZ D-Bus 介面以藍牙點對點傳送至連接裝置。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12686" y="9826737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5 頁 (共 8 頁)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57150"/>
            <a:ext cx="4433143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3.2 軟/硬體組件設計說明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77176"/>
            <a:ext cx="18288000" cy="509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Raspberry Pi 5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 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16GB：支撐多模型並行載入，並發揮其原生處理器性能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FunASR AutoModel：選用 Paraformer-zh（語音辨識）、FSMN-VAD（語音活動偉測）、CT-Punc（標點符號還原）、CAM++（說話者辨識）來支援更複雜的判斷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llama.cpp（Llama 類別）：針對 CPU 指令集優化，搭配 8-bit 量化 (Q8_0) 的 Qwen3 模型，在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維持高精確度的前提下，確保於樹莓派端達成即時推論。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pkd_worker.py：調度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 SRT 切片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與資源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排程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，確保錄製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與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分析流程互不干擾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config/model_config.py：透過 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ModelConfig 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集中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管理超參數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，提升系統移植性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print_log_utils.py：建立具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時間戳記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的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日誌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，便於追蹤離線環境下的系統狀態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5902730"/>
            <a:ext cx="15975732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3.3 介面設計說明(</a:t>
            </a: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本系統採</a:t>
            </a: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用模組化 </a:t>
            </a: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CLI</a:t>
            </a: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 互動設計</a:t>
            </a: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，</a:t>
            </a: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將核心功能拆分為三個獨立執行單元</a:t>
            </a: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6364647"/>
            <a:ext cx="18288000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語音處理層 (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run_asr_conda.py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)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：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負責底層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音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訊驅動與逐字稿生成，支援串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流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與檔案雙模式。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核心分析層 (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run_pkd_conda.py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)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：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負責說話者辨識與語意切片，為系統的運算中樞。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摘要萃取層 (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run_summary_conda.py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)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：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利用語言模型針對分析結果進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行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二次加工，產出結構化報告。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33971" y="994727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6 頁 (共 8 頁)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745269" y="5624796"/>
          <a:ext cx="5657850" cy="2514600"/>
        </p:xfrm>
        <a:graphic>
          <a:graphicData uri="http://schemas.openxmlformats.org/presentationml/2006/ole">
            <p:oleObj imgW="6781800" imgH="36449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0" y="-57150"/>
            <a:ext cx="15430500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3.4 作業程序設計說明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404767"/>
            <a:ext cx="17804836" cy="445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主控流程由 pkd_worker.py 協調，執行順序如下：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啟動 RealtimeASR，進行即時錄音與語音辨識，每 10 分鐘自動切片輸出 SRT 檔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pkd_worker.py 監控輸出目錄，偉測新 SRT 後呼叫 SRTParser 解析並由 SRTSegmentizer 分段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依序執行 5 個 Extractor，每段最多輸入 1500 字元至 LLM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SummaryGenerator 整合所有結果，以 JSON 格式輸出會議標題與摘要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最終報告彙整為 txt 檔，透過 BlueZ D-Bus 藍牙介面傳送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4943805"/>
            <a:ext cx="4028108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3.5 輸入/輸出設計說明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33971" y="9799921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7 頁 (共 8 頁)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-57150"/>
            <a:ext cx="3105596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3.6 其他設計說明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404767"/>
            <a:ext cx="18288000" cy="381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資源監控與穩定性設計：系統即時監控記憶體並設定 10GB 閾值，一旦超標即觸發 gc.collect 進行主動清理。針對運算異常具備 3 次自動重試機制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離線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安全與本地環境設定：透過設定 HF_OFFLINE 等環境變數，強制系統進入全離線模式。模型統一存放於本地快取路徑，確保在無網路環境下仍能穩定執行推論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動態聲紋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辨識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算法：採用 CAM++ 提取 192 維聲紋向量，以 0.7 相似度為判定閾值，並透過 $\alpha=0.2$ 的學習率動態更新聲紋原型。系統最高支援 50 位 說話者辨識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4605383"/>
            <a:ext cx="5602858" cy="538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5"/>
              </a:lnSpc>
              <a:spcBef>
                <a:spcPct val="0"/>
              </a:spcBef>
            </a:pPr>
            <a:r>
              <a:rPr lang="en-US" sz="3189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4 需求制設計之追溯與版本管理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0" y="5067300"/>
            <a:ext cx="18288000" cy="3813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版本管理策略：採用 Git 分支策略管理開發流程，區分穩定版本與硬體整合分支，確保功能開發與 Raspberry Pi 測試並行且可追溯。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模組化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與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組態管理：採高內聚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設計，將各項分析功能封裝為獨立 Extractor；所有路徑與超參數由單一類別控管，提升維護效率。</a:t>
            </a:r>
          </a:p>
          <a:p>
            <a:pPr algn="l" marL="777240" indent="-388620" lvl="1">
              <a:lnSpc>
                <a:spcPts val="5040"/>
              </a:lnSpc>
              <a:spcBef>
                <a:spcPct val="0"/>
              </a:spcBef>
              <a:buAutoNum type="arabicPeriod" startAt="1"/>
            </a:pP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需求對應與追溯</a:t>
            </a:r>
            <a:r>
              <a:rPr lang="en-US" sz="3600" strike="noStrike" u="none">
                <a:solidFill>
                  <a:srgbClr val="000000"/>
                </a:solidFill>
                <a:latin typeface="Arial Unicode"/>
                <a:ea typeface="Arial Unicode"/>
                <a:cs typeface="Arial Unicode"/>
                <a:sym typeface="Arial Unicode"/>
              </a:rPr>
              <a:t>：建立模組與需求的對應架構：由語音、分析及藍牙傳輸模組嚴格對接開發需求，確保系統功能具備高度可驗證性。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533971" y="9947275"/>
            <a:ext cx="152400" cy="1905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Noto Sans T Chinese"/>
                <a:ea typeface="Noto Sans T Chinese"/>
                <a:cs typeface="Noto Sans T Chinese"/>
                <a:sym typeface="Noto Sans T Chinese"/>
              </a:rPr>
              <a:t>第 8 頁 (共 8 頁)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DAHGPSHu0Ns</dc:identifier>
  <dcterms:modified xsi:type="dcterms:W3CDTF">2011-08-01T06:04:30Z</dcterms:modified>
  <cp:revision>1</cp:revision>
  <dc:title>4.20專題</dc:title>
</cp:coreProperties>
</file>